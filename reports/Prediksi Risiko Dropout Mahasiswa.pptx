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1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2140"/>
                </a:solidFill>
                <a:latin typeface="Calibri"/>
              </a:rPr>
              <a:t>Metrik Klasifikasi — Random Forest (Test 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A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0.878</c:v>
                </c:pt>
                <c:pt idx="1">
                  <c:v>0.841</c:v>
                </c:pt>
                <c:pt idx="2">
                  <c:v>0.764</c:v>
                </c:pt>
                <c:pt idx="3">
                  <c:v>0.801</c:v>
                </c:pt>
                <c:pt idx="4">
                  <c:v>0.929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50" u="none">
                  <a:solidFill>
                    <a:srgbClr val="1A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47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377440" cy="237744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PEMROGRAMAN 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 Risiko Dropout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Mahasiswa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klasifikasi berbasis Machine Learning untuk mendeteksi risiko dropout mahasiswa lebih dini, dilengkapi dashboard interaktif berbasis Streamlit.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219456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Zacky Rachim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Prediksi Risiko Dropout Mahasiswa — Machine Learning &amp; Streamlit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Prediksi Dropout Penting?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mahasiswa adalah salah satu tantangan utama pendidikan tinggi. Ia berdampak langsung pada tingkat kelulusan, kualitas akademik, efisiensi pembelajaran, dan akreditasi institusi. Dengan memanfaatkan data historis mahasiswa — akademik, sosial-ekonomi, dan performa studi — pola-pola risiko dropout dapat dideteksi lebih awal sehingga institusi dapat melakukan intervensi sebelum mahasiswa benar-benar berhenti kuliah.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215384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087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kelulusan institusi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599432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4714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akademik program studi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98348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8554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proses pembelajaran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367528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239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Akreditasi perguruan tinggi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60920" y="1508760"/>
            <a:ext cx="4297680" cy="457200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4.424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76809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mahasiswa dianalisis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3429000"/>
            <a:ext cx="36576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3611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680960" y="42245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asli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mahasiswa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3611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601200" y="422452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status: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/ Graduate / Enrolled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0" y="5623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akademik, sosial-ekonomi &amp; performa studi mahasiswa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PROYEK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Tujuan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5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Eksplorasi &amp; Analisis Data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4688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karakteristik data mahasiswa, distribusi target, dan korelasi antar fitur.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5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Membangun Model Prediksi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model machine learning untuk memprediksi risiko dropout mahasiswa.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5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1600200" y="418795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Performa Model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0916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akurasi model menggunakan metrik klasifikasi standar (accuracy, precision, recall, F1, ROC-AUC).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5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7223760" y="418795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Interaktif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23760" y="470916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aplikasi Streamlit untuk visualisasi data, performa model, dan prediksi langsung.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&amp; Target Klasifikasi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berisi atribut demografis, akademik, dan sosial-ekonomi mahasiswa — mulai dari status pernikahan dan jalur pendaftaran, hingga nilai semester 1 &amp; 2. Kolom target asli (Dropout / Graduate / Enrolled) diubah menjadi label biner dropout_risk untuk kebutuhan klasifikasi.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93392" y="274320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93392" y="2743200"/>
            <a:ext cx="1088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74320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274320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Sosial-Ekonomi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2743200"/>
            <a:ext cx="252831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743200"/>
            <a:ext cx="25283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Semester 1 &amp;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52831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46120"/>
            <a:ext cx="25283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Ekonomi Makro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6537960" cy="1920240"/>
          </a:xfrm>
          <a:prstGeom prst="roundRect">
            <a:avLst>
              <a:gd name="adj" fmla="val 4762"/>
            </a:avLst>
          </a:prstGeom>
          <a:solidFill>
            <a:srgbClr val="F1F5F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dropout_risk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80060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92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" y="5468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48006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892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023360" y="54406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Dropout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(Graduate / Enrolled)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1417320"/>
            <a:ext cx="4297680" cy="466344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2057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3.539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6809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training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3246120"/>
            <a:ext cx="36576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383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8096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testing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4572000"/>
            <a:ext cx="36576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fitur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80960" y="51663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 digunakan sebagai input model — tanpa missing value &amp; duplikat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Pengembangan Sistem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08760" y="2532888"/>
            <a:ext cx="91440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21488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527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56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1F5F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81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7764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Imputasi median &amp; standardisasi fitur numerik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38728" y="21488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56" dirty="0"/>
          </a:p>
        </p:txBody>
      </p:sp>
      <p:sp>
        <p:nvSpPr>
          <p:cNvPr id="12" name="Shape 10"/>
          <p:cNvSpPr/>
          <p:nvPr/>
        </p:nvSpPr>
        <p:spPr>
          <a:xfrm>
            <a:off x="2834640" y="2926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1F5FD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3081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71800" y="37764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3.539 data latih, 885 data uji (stratified)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24728" y="21488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56" dirty="0"/>
          </a:p>
        </p:txBody>
      </p:sp>
      <p:sp>
        <p:nvSpPr>
          <p:cNvPr id="17" name="Shape 15"/>
          <p:cNvSpPr/>
          <p:nvPr/>
        </p:nvSpPr>
        <p:spPr>
          <a:xfrm>
            <a:off x="5120640" y="2926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1F5FD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081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7800" y="37764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Random Forest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10728" y="21488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1107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56" dirty="0"/>
          </a:p>
        </p:txBody>
      </p:sp>
      <p:sp>
        <p:nvSpPr>
          <p:cNvPr id="22" name="Shape 20"/>
          <p:cNvSpPr/>
          <p:nvPr/>
        </p:nvSpPr>
        <p:spPr>
          <a:xfrm>
            <a:off x="7406640" y="2926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1F5FD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3081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43800" y="37764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5-fold Stratified CV, scoring F1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96728" y="214884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9672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56" dirty="0"/>
          </a:p>
        </p:txBody>
      </p:sp>
      <p:sp>
        <p:nvSpPr>
          <p:cNvPr id="27" name="Shape 25"/>
          <p:cNvSpPr/>
          <p:nvPr/>
        </p:nvSpPr>
        <p:spPr>
          <a:xfrm>
            <a:off x="9692640" y="292608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1F5FD"/>
          </a:solidFill>
          <a:ln/>
        </p:spPr>
      </p:sp>
      <p:sp>
        <p:nvSpPr>
          <p:cNvPr id="28" name="Text 26"/>
          <p:cNvSpPr/>
          <p:nvPr/>
        </p:nvSpPr>
        <p:spPr>
          <a:xfrm>
            <a:off x="9829800" y="3081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&amp; Deployment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29800" y="37764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model terbaik + dashboard Streamlit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dibangun end-to-end menggunakan scikit-learn Pipeline &amp; ColumnTransformer agar preprocessing dan model konsisten antara training dan inference.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Algoritma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algoritma klasifikasi dilatih dan dibandingkan, dengan Random Forest ditala lebih lanjut melalui GridSearchCV.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1F5F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linear sebagai baseline pembanding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2644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272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7216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844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1.000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1788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041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median imputer + StandardScaler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6360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sebagai pembanding interpretabilitas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2356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12140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214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TERBAIK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0936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Ditala dengan GridSearchCV, dipilih sebagai model produksi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675888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5387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awal = 200, class_weight = 'balanced'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4224528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087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max_depth [None,10,15], min_samples_split [2,5], min_samples_leaf [1,2]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4773168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6360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 — scoring: F1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5321808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51846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Disimpan sebagai best_model.pkl untuk dashboard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 Model Random Forest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F1F5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87,8%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46304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F1F5FD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600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8036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46304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600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154680"/>
          <a:ext cx="66751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2667"/>
            </a:avLst>
          </a:prstGeom>
          <a:solidFill>
            <a:srgbClr val="F1F5FD"/>
          </a:solidFill>
          <a:ln/>
        </p:spPr>
      </p:sp>
      <p:sp>
        <p:nvSpPr>
          <p:cNvPr id="15" name="Text 12"/>
          <p:cNvSpPr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18120" y="2249424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208483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0,93 menunjukkan model sangat baik dalam membedakan mahasiswa berisiko dropout.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818120" y="3118104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0" y="295351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76,4% — sebagian mahasiswa berisiko masih belum tertangkap model, ruang perbaikan ke depan.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18120" y="3986784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0" y="382219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84,1% — mayoritas prediksi “dropout” memang benar-benar berisiko.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18120" y="4855464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469087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membantu model tetap sensitif meski kelas dropout minoritas.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EVALUASI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(Test Set, n = 885)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1234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Prediksi: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Dropout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429000" y="12344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Prediksi: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-91440" y="192024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Aktual:</a:t>
            </a:r>
            <a:endParaRPr lang="en-US" sz="11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Dropout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-91440" y="3611880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Aktual:</a:t>
            </a:r>
            <a:endParaRPr lang="en-US" sz="11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83080" y="196596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83080" y="2880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96596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C9CED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365760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C9CEDD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386791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783080" y="4572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65760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86791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474720" y="45720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1920240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F1F5FD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Artinya?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9560" y="26060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885 mahasiswa pada data uji, model berhasil mengidentifikasi 217 dari 284 mahasiswa yang benar-benar dropout (true positive), dengan hanya 41 mahasiswa non-dropout yang salah diklasifikasikan sebagai berisiko.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09560" y="4069080"/>
            <a:ext cx="3474720" cy="0"/>
          </a:xfrm>
          <a:prstGeom prst="line">
            <a:avLst/>
          </a:prstGeom>
          <a:noFill/>
          <a:ln w="12700">
            <a:solidFill>
              <a:srgbClr val="D8D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42519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mahasiswa berisiko dropout belum terdeteksi (false negative) — area utama untuk perbaikan model berikutnya.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Interaktif Streamlit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halaman utama memungkinkan eksplorasi data, evaluasi model, dan prediksi risiko dropout secara langsung.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dataset, dimensi data, tipe data, missing value, distribusi target, statistik deskriptif, dan heatmap korelasi antar fitur.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4747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metrik evaluasi (accuracy, precision, recall, F1, ROC-AUC), classification report, dan confusion matrix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1F5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412480" y="2926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Output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347472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24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 data mahasiswa untuk menghasilkan prediksi risiko dropout secara real-time menggunakan model tersimpan.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023360" cy="40233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Siap Mendukung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Intervensi Dini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77063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hasil tuning GridSearchCV terpilih sebagai model terbaik dengan akurasi 87,8% dan ROC-AUC 0,93.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68503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memudahkan tim akademik menjelajahi data, memantau performa model, dan memprediksi risiko secara langsung.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59943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76,4% membuka ruang pengembangan lanjutan — penambahan fitur atau ambang keputusan yang lebih sensitif terhadap risiko dropout.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09560" y="960120"/>
            <a:ext cx="3657600" cy="5074920"/>
          </a:xfrm>
          <a:prstGeom prst="roundRect">
            <a:avLst>
              <a:gd name="adj" fmla="val 3000"/>
            </a:avLst>
          </a:prstGeom>
          <a:solidFill>
            <a:srgbClr val="141A47"/>
          </a:solidFill>
          <a:ln w="12700">
            <a:solidFill>
              <a:srgbClr val="2C35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1847088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94192" y="1691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fitur perilaku akademik real-time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2624328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8394192" y="2468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Menaikkan recall lewat threshold tuning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83880" y="3401568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8394192" y="3246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dashboard bersama tim akademik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4178808"/>
            <a:ext cx="73152" cy="7315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8394192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performa model secara berkala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8388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Zacky Rachim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Risiko Dropout Mahasiswa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2026-07-14T01:41:56Z</dcterms:created>
  <dcterms:modified xsi:type="dcterms:W3CDTF">2026-07-14T01:41:56Z</dcterms:modified>
</cp:coreProperties>
</file>